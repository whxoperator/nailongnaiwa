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custDataLst>
    <p:tags r:id="rId17"/>
  </p:custData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none"/>
        <c:varyColors val="0"/>
        <c:ser>
          <c:idx val="0"/>
          <c:order val="0"/>
          <c:tx>
            <c:strRef>
              <c:f>Accuracy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F4C542"/>
            </a:solidFill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{"CNN balanced","Thumbnail kNN","RGB histogram","Color mean","Edge hist"}</c:f>
              <c:strCache>
                <c:ptCount val="5"/>
                <c:pt idx="0">
                  <c:v>CNN balanced</c:v>
                </c:pt>
                <c:pt idx="1">
                  <c:v>Thumbnail kNN</c:v>
                </c:pt>
                <c:pt idx="2">
                  <c:v>RGB histogram</c:v>
                </c:pt>
                <c:pt idx="3">
                  <c:v>Color mean</c:v>
                </c:pt>
                <c:pt idx="4">
                  <c:v>Edge hist</c:v>
                </c:pt>
              </c:strCache>
            </c:strRef>
          </c:cat>
          <c:val>
            <c:numRef>
              <c:f>{90.24,87.8,85.37,78.05,58.54}</c:f>
              <c:numCache>
                <c:formatCode>General</c:formatCode>
                <c:ptCount val="5"/>
                <c:pt idx="0">
                  <c:v>90.24</c:v>
                </c:pt>
                <c:pt idx="1">
                  <c:v>87.8</c:v>
                </c:pt>
                <c:pt idx="2">
                  <c:v>85.37</c:v>
                </c:pt>
                <c:pt idx="3">
                  <c:v>78.05</c:v>
                </c:pt>
                <c:pt idx="4">
                  <c:v>58.54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1E7EF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2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7067550" y="590550"/>
            <a:ext cx="3857625" cy="3857625"/>
          </a:xfrm>
          <a:prstGeom prst="roundRect">
            <a:avLst>
              <a:gd name="adj" fmla="val 1975"/>
            </a:avLst>
          </a:prstGeom>
          <a:solidFill>
            <a:srgbClr val="FFFFFF">
              <a:alpha val="7843"/>
            </a:srgbClr>
          </a:solidFill>
          <a:ln w="9525">
            <a:solidFill>
              <a:srgbClr val="FFFFFF">
                <a:alpha val="18824"/>
              </a:srgbClr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429500" y="876300"/>
            <a:ext cx="3143250" cy="3143250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685800" y="819150"/>
            <a:ext cx="6096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奶龙还是奶蛙？</a:t>
            </a:r>
            <a:endParaRPr sz="4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619250"/>
            <a:ext cx="6477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4C5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F4C5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一个图像分类项目的诞生</a:t>
            </a:r>
            <a:endParaRPr sz="3150" b="1">
              <a:solidFill>
                <a:srgbClr val="F4C5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42950" y="2895600"/>
            <a:ext cx="5810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从网络图片识别的必要性出发，完成数据整理、CNN 训练、Web 交互、算法对比与 GitHub 版本迭代。</a:t>
            </a:r>
            <a:endParaRPr sz="1800" b="0">
              <a:solidFill>
                <a:srgbClr val="DCE8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42950" y="4495800"/>
            <a:ext cx="2381250" cy="419100"/>
          </a:xfrm>
          <a:prstGeom prst="roundRect">
            <a:avLst>
              <a:gd name="adj" fmla="val 18182"/>
            </a:avLst>
          </a:prstGeom>
          <a:solidFill>
            <a:srgbClr val="F4C542"/>
          </a:solidFill>
          <a:ln w="9525">
            <a:solidFill>
              <a:srgbClr val="F4C542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459105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项目汇报 PPT</a:t>
            </a:r>
            <a:endParaRPr sz="150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6096000"/>
            <a:ext cx="628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BFD0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BFD0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PyTorch · Local Web UI · Algorithm Comparison · GitHub commits</a:t>
            </a:r>
            <a:endParaRPr sz="1050" b="0">
              <a:solidFill>
                <a:srgbClr val="BFD0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B2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20955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Nailong / Naiwa Image Classifier</a:t>
            </a:r>
            <a:endParaRPr sz="1125" b="1">
              <a:solidFill>
                <a:srgbClr val="DCE8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876300"/>
            <a:ext cx="7429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为什么这个项目是必要的？</a:t>
            </a:r>
            <a:endParaRPr sz="255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47800"/>
            <a:ext cx="838200" cy="57150"/>
          </a:xfrm>
          <a:prstGeom prst="rect">
            <a:avLst/>
          </a:prstGeom>
          <a:solidFill>
            <a:srgbClr val="F4C5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781050" y="2095500"/>
            <a:ext cx="31432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47750" y="2362200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图像是信息载体</a:t>
            </a:r>
            <a:endParaRPr sz="1875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47750" y="2971800"/>
            <a:ext cx="25717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表情包、截图、角色图和二创内容，都需要被机器理解和管理。</a:t>
            </a:r>
            <a:endParaRPr sz="150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47750" y="4229100"/>
            <a:ext cx="666750" cy="57150"/>
          </a:xfrm>
          <a:prstGeom prst="rect">
            <a:avLst/>
          </a:prstGeom>
          <a:solidFill>
            <a:srgbClr val="F4C5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4419600" y="2095500"/>
            <a:ext cx="3143250" cy="2381250"/>
          </a:xfrm>
          <a:prstGeom prst="roundRect">
            <a:avLst>
              <a:gd name="adj" fmla="val 3200"/>
            </a:avLst>
          </a:prstGeom>
          <a:solidFill>
            <a:srgbClr val="FFF5CE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686300" y="2362200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分类是第一步</a:t>
            </a:r>
            <a:endParaRPr sz="1875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686300" y="2971800"/>
            <a:ext cx="25717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只有先判断“这是什么”，后面才有搜索、归档、清洗和推荐。</a:t>
            </a:r>
            <a:endParaRPr sz="150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686300" y="4229100"/>
            <a:ext cx="666750" cy="57150"/>
          </a:xfrm>
          <a:prstGeom prst="rect">
            <a:avLst/>
          </a:prstGeom>
          <a:solidFill>
            <a:srgbClr val="0B2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8058150" y="2095500"/>
            <a:ext cx="31432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324850" y="2362200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奶龙 / 奶蛙是具体入口</a:t>
            </a:r>
            <a:endParaRPr sz="1875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324850" y="2971800"/>
            <a:ext cx="25717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对象很可爱，但任务本质是让计算机从相似图片中提取差异。</a:t>
            </a:r>
            <a:endParaRPr sz="150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324850" y="4229100"/>
            <a:ext cx="666750" cy="57150"/>
          </a:xfrm>
          <a:prstGeom prst="rect">
            <a:avLst/>
          </a:prstGeom>
          <a:solidFill>
            <a:srgbClr val="F4C5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76300" y="5334000"/>
            <a:ext cx="9810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它不是“做着玩”的分类器，而是数据整理、功能扩展和智能分析的基础环节。</a:t>
            </a:r>
            <a:endParaRPr sz="195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572750" y="641985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050" b="1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B2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20955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Nailong / Naiwa Image Classifier</a:t>
            </a:r>
            <a:endParaRPr sz="1125" b="1">
              <a:solidFill>
                <a:srgbClr val="DCE8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876300"/>
            <a:ext cx="7429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数据来源与样例</a:t>
            </a:r>
            <a:endParaRPr sz="255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47800"/>
            <a:ext cx="838200" cy="57150"/>
          </a:xfrm>
          <a:prstGeom prst="rect">
            <a:avLst/>
          </a:prstGeom>
          <a:solidFill>
            <a:srgbClr val="F4C5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0100" y="1695450"/>
            <a:ext cx="9715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数据来自 GitHub 开源项目 spawner1145/NailongRecognize，以及从小红书等平台下载整理的图片。</a:t>
            </a:r>
            <a:endParaRPr sz="165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42950" y="2476500"/>
            <a:ext cx="3257550" cy="295275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rcRect t="15686" b="15686"/>
          <a:stretch>
            <a:fillRect/>
          </a:stretch>
        </p:blipFill>
        <p:spPr>
          <a:xfrm>
            <a:off x="914400" y="2647950"/>
            <a:ext cx="2914650" cy="200025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971550" y="4800600"/>
            <a:ext cx="2762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奶龙样例</a:t>
            </a:r>
            <a:endParaRPr sz="1575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71550" y="5105400"/>
            <a:ext cx="2762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典型外观清晰</a:t>
            </a:r>
            <a:endParaRPr sz="1125" b="0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457700" y="2476500"/>
            <a:ext cx="3257550" cy="295275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2"/>
          <a:srcRect t="25490" b="25490"/>
          <a:stretch>
            <a:fillRect/>
          </a:stretch>
        </p:blipFill>
        <p:spPr>
          <a:xfrm>
            <a:off x="4629150" y="2647950"/>
            <a:ext cx="2914650" cy="2000250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4686300" y="4800600"/>
            <a:ext cx="2762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奶蛙样例</a:t>
            </a:r>
            <a:endParaRPr sz="1575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686300" y="5105400"/>
            <a:ext cx="2762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场景复杂、风格多样</a:t>
            </a:r>
            <a:endParaRPr sz="1125" b="0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172450" y="2476500"/>
            <a:ext cx="3257550" cy="295275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15686" b="15686"/>
          <a:stretch>
            <a:fillRect/>
          </a:stretch>
        </p:blipFill>
        <p:spPr>
          <a:xfrm>
            <a:off x="8343900" y="2647950"/>
            <a:ext cx="2914650" cy="2000250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8401050" y="4800600"/>
            <a:ext cx="2762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奶蛙样例</a:t>
            </a:r>
            <a:endParaRPr sz="1575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401050" y="5105400"/>
            <a:ext cx="2762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带文字与强背景效果</a:t>
            </a:r>
            <a:endParaRPr sz="1125" b="0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572750" y="641985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050" b="1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B2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20955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Nailong / Naiwa Image Classifier</a:t>
            </a:r>
            <a:endParaRPr sz="1125" b="1">
              <a:solidFill>
                <a:srgbClr val="DCE8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876300"/>
            <a:ext cx="7429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从图片到结果：项目流程</a:t>
            </a:r>
            <a:endParaRPr sz="255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47800"/>
            <a:ext cx="838200" cy="57150"/>
          </a:xfrm>
          <a:prstGeom prst="rect">
            <a:avLst/>
          </a:prstGeom>
          <a:solidFill>
            <a:srgbClr val="F4C5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781050" y="1952625"/>
            <a:ext cx="3048000" cy="1066800"/>
          </a:xfrm>
          <a:prstGeom prst="roundRect">
            <a:avLst>
              <a:gd name="adj" fmla="val 7143"/>
            </a:avLst>
          </a:prstGeom>
          <a:solidFill>
            <a:srgbClr val="EAF1FB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09650" y="2181225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收集数据</a:t>
            </a:r>
            <a:endParaRPr sz="180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09650" y="2543175"/>
            <a:ext cx="2571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 + 小红书</a:t>
            </a:r>
            <a:endParaRPr sz="1275" b="0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924300" y="2447925"/>
            <a:ext cx="266700" cy="57150"/>
          </a:xfrm>
          <a:prstGeom prst="rect">
            <a:avLst/>
          </a:prstGeom>
          <a:solidFill>
            <a:srgbClr val="F4C5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4419600" y="1952625"/>
            <a:ext cx="30480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648200" y="2181225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预处理</a:t>
            </a:r>
            <a:endParaRPr sz="180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648200" y="2543175"/>
            <a:ext cx="2571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水印弱化 / 数据增强</a:t>
            </a:r>
            <a:endParaRPr sz="1275" b="0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562850" y="2447925"/>
            <a:ext cx="266700" cy="57150"/>
          </a:xfrm>
          <a:prstGeom prst="rect">
            <a:avLst/>
          </a:prstGeom>
          <a:solidFill>
            <a:srgbClr val="F4C5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8058150" y="1952625"/>
            <a:ext cx="3048000" cy="1066800"/>
          </a:xfrm>
          <a:prstGeom prst="roundRect">
            <a:avLst>
              <a:gd name="adj" fmla="val 7143"/>
            </a:avLst>
          </a:prstGeom>
          <a:solidFill>
            <a:srgbClr val="EAF1FB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286750" y="2181225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划分数据</a:t>
            </a:r>
            <a:endParaRPr sz="180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286750" y="2543175"/>
            <a:ext cx="2571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train / test / generalization</a:t>
            </a:r>
            <a:endParaRPr sz="1275" b="0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81050" y="3629025"/>
            <a:ext cx="30480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009650" y="3857625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训练模型</a:t>
            </a:r>
            <a:endParaRPr sz="180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09650" y="4219575"/>
            <a:ext cx="2571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轻量级 CNN</a:t>
            </a:r>
            <a:endParaRPr sz="1275" b="0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924300" y="4124325"/>
            <a:ext cx="266700" cy="57150"/>
          </a:xfrm>
          <a:prstGeom prst="rect">
            <a:avLst/>
          </a:prstGeom>
          <a:solidFill>
            <a:srgbClr val="F4C5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4419600" y="3629025"/>
            <a:ext cx="3048000" cy="1066800"/>
          </a:xfrm>
          <a:prstGeom prst="roundRect">
            <a:avLst>
              <a:gd name="adj" fmla="val 7143"/>
            </a:avLst>
          </a:prstGeom>
          <a:solidFill>
            <a:srgbClr val="EAF1FB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648200" y="3857625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交互预测</a:t>
            </a:r>
            <a:endParaRPr sz="180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648200" y="4219575"/>
            <a:ext cx="2571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 Web UI</a:t>
            </a:r>
            <a:endParaRPr sz="1275" b="0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562850" y="4124325"/>
            <a:ext cx="266700" cy="57150"/>
          </a:xfrm>
          <a:prstGeom prst="rect">
            <a:avLst/>
          </a:prstGeom>
          <a:solidFill>
            <a:srgbClr val="F4C5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圆角矩形 24"/>
          <p:cNvSpPr>
            <a:spLocks noGrp="1"/>
          </p:cNvSpPr>
          <p:nvPr/>
        </p:nvSpPr>
        <p:spPr>
          <a:xfrm>
            <a:off x="8058150" y="3629025"/>
            <a:ext cx="30480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286750" y="3857625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输出报告</a:t>
            </a:r>
            <a:endParaRPr sz="180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286750" y="4219575"/>
            <a:ext cx="2571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准确率 / 混淆矩阵</a:t>
            </a:r>
            <a:endParaRPr sz="1275" b="0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143000" y="571500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核心目标：把抽象算法变成可看、可点、可验证的识别流程。</a:t>
            </a:r>
            <a:endParaRPr sz="1875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0572750" y="641985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050" b="1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B2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20955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Nailong / Naiwa Image Classifier</a:t>
            </a:r>
            <a:endParaRPr sz="1125" b="1">
              <a:solidFill>
                <a:srgbClr val="DCE8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876300"/>
            <a:ext cx="7429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交互界面：让模型真正可用</a:t>
            </a:r>
            <a:endParaRPr sz="255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47800"/>
            <a:ext cx="838200" cy="57150"/>
          </a:xfrm>
          <a:prstGeom prst="rect">
            <a:avLst/>
          </a:prstGeom>
          <a:solidFill>
            <a:srgbClr val="F4C5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781050" y="1809750"/>
            <a:ext cx="49530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66800" y="211455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 UI 功能</a:t>
            </a:r>
            <a:endParaRPr sz="2025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62050" y="2743200"/>
            <a:ext cx="3905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上传图片并预览</a:t>
            </a:r>
            <a:endParaRPr sz="150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62050" y="3200400"/>
            <a:ext cx="3905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选择 CNN 模型或传统算法</a:t>
            </a:r>
            <a:endParaRPr sz="150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62050" y="3657600"/>
            <a:ext cx="3905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显示预测类别与置信度条</a:t>
            </a:r>
            <a:endParaRPr sz="150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62050" y="4114800"/>
            <a:ext cx="3905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Compare all algorithms 横向对比</a:t>
            </a:r>
            <a:endParaRPr sz="150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4572000"/>
            <a:ext cx="3905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接受正确结果并补充到数据集</a:t>
            </a:r>
            <a:endParaRPr sz="150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334125" y="1809750"/>
            <a:ext cx="4524375" cy="3429000"/>
          </a:xfrm>
          <a:prstGeom prst="roundRect">
            <a:avLst>
              <a:gd name="adj" fmla="val 2222"/>
            </a:avLst>
          </a:prstGeom>
          <a:solidFill>
            <a:srgbClr val="FFF5CE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667500" y="2152650"/>
            <a:ext cx="3619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演示时重点讲</a:t>
            </a:r>
            <a:endParaRPr sz="2025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667500" y="2800350"/>
            <a:ext cx="361950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用户看到的不只是一个冷冰冰的分类结果，还能知道模型这次到底有多确定。</a:t>
            </a:r>
            <a:endParaRPr sz="180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667500" y="4229100"/>
            <a:ext cx="342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本地地址：127.0.0.1:8770</a:t>
            </a:r>
            <a:endParaRPr sz="1500" b="0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0572750" y="641985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050" b="1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B2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20955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Nailong / Naiwa Image Classifier</a:t>
            </a:r>
            <a:endParaRPr sz="1125" b="1">
              <a:solidFill>
                <a:srgbClr val="DCE8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876300"/>
            <a:ext cx="7429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算法对比：CNN 效果最好，但基线也有价值</a:t>
            </a:r>
            <a:endParaRPr sz="255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47800"/>
            <a:ext cx="838200" cy="57150"/>
          </a:xfrm>
          <a:prstGeom prst="rect">
            <a:avLst/>
          </a:prstGeom>
          <a:solidFill>
            <a:srgbClr val="F4C5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graphicFrame>
        <p:nvGraphicFramePr>
          <p:cNvPr id="17" name="Chart"/>
          <p:cNvGraphicFramePr/>
          <p:nvPr/>
        </p:nvGraphicFramePr>
        <p:xfrm>
          <a:off x="895350" y="1952625"/>
          <a:ext cx="628650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圆角矩形 5"/>
          <p:cNvSpPr>
            <a:spLocks noGrp="1"/>
          </p:cNvSpPr>
          <p:nvPr/>
        </p:nvSpPr>
        <p:spPr>
          <a:xfrm>
            <a:off x="7715250" y="2000250"/>
            <a:ext cx="3143250" cy="27813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981950" y="2286000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测试集结果</a:t>
            </a:r>
            <a:endParaRPr sz="195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01000" y="2800350"/>
            <a:ext cx="2381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900" b="1">
                <a:solidFill>
                  <a:srgbClr val="23A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900" b="1">
                <a:solidFill>
                  <a:srgbClr val="23A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37 / 41</a:t>
            </a:r>
            <a:endParaRPr sz="3900" b="1">
              <a:solidFill>
                <a:srgbClr val="23A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020050" y="33718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CNN balanced 正确数</a:t>
            </a:r>
            <a:endParaRPr sz="1350" b="0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001000" y="3905250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准确率约 90.24%</a:t>
            </a:r>
            <a:endParaRPr sz="225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28700" y="567690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传统算法作为对照基线，帮助判断深度模型是否真正学到了有效特征。</a:t>
            </a:r>
            <a:endParaRPr sz="1725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572750" y="641985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050" b="1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B2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20955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Nailong / Naiwa Image Classifier</a:t>
            </a:r>
            <a:endParaRPr sz="1125" b="1">
              <a:solidFill>
                <a:srgbClr val="DCE8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876300"/>
            <a:ext cx="7429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 commits：从上传到完整流程</a:t>
            </a:r>
            <a:endParaRPr sz="255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47800"/>
            <a:ext cx="838200" cy="57150"/>
          </a:xfrm>
          <a:prstGeom prst="rect">
            <a:avLst/>
          </a:prstGeom>
          <a:solidFill>
            <a:srgbClr val="F4C5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428750" y="2266950"/>
            <a:ext cx="8763000" cy="38100"/>
          </a:xfrm>
          <a:prstGeom prst="rect">
            <a:avLst/>
          </a:prstGeom>
          <a:solidFill>
            <a:srgbClr val="D9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1343025" y="2190750"/>
            <a:ext cx="209550" cy="209550"/>
          </a:xfrm>
          <a:prstGeom prst="ellipse">
            <a:avLst/>
          </a:prstGeom>
          <a:solidFill>
            <a:srgbClr val="0B254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19150" y="24765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2026-06-16</a:t>
            </a:r>
            <a:endParaRPr sz="1125" b="0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571500" y="2838450"/>
            <a:ext cx="1714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3009900"/>
            <a:ext cx="13906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Initial commit / Add files via upload</a:t>
            </a:r>
            <a:endParaRPr sz="1125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42950" y="3790950"/>
            <a:ext cx="13906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项目开始上传，建立基础仓库。</a:t>
            </a:r>
            <a:endParaRPr sz="105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3533775" y="2190750"/>
            <a:ext cx="209550" cy="209550"/>
          </a:xfrm>
          <a:prstGeom prst="ellipse">
            <a:avLst/>
          </a:prstGeom>
          <a:solidFill>
            <a:srgbClr val="0B254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009900" y="24765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2026-06-16</a:t>
            </a:r>
            <a:endParaRPr sz="1125" b="0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2762250" y="2838450"/>
            <a:ext cx="1714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933700" y="3009900"/>
            <a:ext cx="13906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Add image datasets</a:t>
            </a:r>
            <a:endParaRPr sz="1125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933700" y="3790950"/>
            <a:ext cx="13906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加入图像数据，为训练和测试打基础。</a:t>
            </a:r>
            <a:endParaRPr sz="105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5724525" y="2190750"/>
            <a:ext cx="209550" cy="209550"/>
          </a:xfrm>
          <a:prstGeom prst="ellipse">
            <a:avLst/>
          </a:prstGeom>
          <a:solidFill>
            <a:srgbClr val="0B254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200650" y="24765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2026-06-17</a:t>
            </a:r>
            <a:endParaRPr sz="1125" b="0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4953000" y="2838450"/>
            <a:ext cx="1714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124450" y="3009900"/>
            <a:ext cx="13906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Selectable algorithms + visualization</a:t>
            </a:r>
            <a:endParaRPr sz="1125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124450" y="3790950"/>
            <a:ext cx="13906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加入算法选择与数据分布展示。</a:t>
            </a:r>
            <a:endParaRPr sz="105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7915275" y="2190750"/>
            <a:ext cx="209550" cy="209550"/>
          </a:xfrm>
          <a:prstGeom prst="ellipse">
            <a:avLst/>
          </a:prstGeom>
          <a:solidFill>
            <a:srgbClr val="0B254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391400" y="24765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2026-06-17</a:t>
            </a:r>
            <a:endParaRPr sz="1125" b="0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7143750" y="2838450"/>
            <a:ext cx="1714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315200" y="3009900"/>
            <a:ext cx="13906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Add algorithm comparison workflow</a:t>
            </a:r>
            <a:endParaRPr sz="1125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315200" y="3790950"/>
            <a:ext cx="13906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形成批量算法对比与报告输出。</a:t>
            </a:r>
            <a:endParaRPr sz="105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10106025" y="2190750"/>
            <a:ext cx="209550" cy="209550"/>
          </a:xfrm>
          <a:prstGeom prst="ellipse">
            <a:avLst/>
          </a:prstGeom>
          <a:solidFill>
            <a:srgbClr val="F4C54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582150" y="24765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2026-06-17</a:t>
            </a:r>
            <a:endParaRPr sz="1125" b="0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9334500" y="2838450"/>
            <a:ext cx="1714500" cy="1714500"/>
          </a:xfrm>
          <a:prstGeom prst="roundRect">
            <a:avLst>
              <a:gd name="adj" fmla="val 4444"/>
            </a:avLst>
          </a:prstGeom>
          <a:solidFill>
            <a:srgbClr val="FFF5CE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505950" y="3009900"/>
            <a:ext cx="13906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Refresh project README</a:t>
            </a:r>
            <a:endParaRPr sz="1125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505950" y="3790950"/>
            <a:ext cx="13906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完善 README</a:t>
            </a:r>
            <a:endParaRPr sz="105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104900" y="5524500"/>
            <a:ext cx="9334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这条提交线对应了开发节奏：先传上去，再补数据、补界面、补算法对比，最后整理说明文档。</a:t>
            </a:r>
            <a:endParaRPr sz="1725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0572750" y="641985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050" b="1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B2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20955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Nailong / Naiwa Image Classifier</a:t>
            </a:r>
            <a:endParaRPr sz="1125" b="1">
              <a:solidFill>
                <a:srgbClr val="DCE8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876300"/>
            <a:ext cx="7429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开发过程：第一次完整上传，也是真的花了力气</a:t>
            </a:r>
            <a:endParaRPr sz="255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47800"/>
            <a:ext cx="838200" cy="57150"/>
          </a:xfrm>
          <a:prstGeom prst="rect">
            <a:avLst/>
          </a:prstGeom>
          <a:solidFill>
            <a:srgbClr val="F4C5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1143000" y="1924050"/>
            <a:ext cx="95250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447800" y="213360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第一次完整上传 GitHub</a:t>
            </a:r>
            <a:endParaRPr sz="180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495800" y="2152650"/>
            <a:ext cx="561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仓库结构、提交记录、README 和文件路径都需要边做边学。</a:t>
            </a:r>
            <a:endParaRPr sz="150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1143000" y="3124200"/>
            <a:ext cx="9525000" cy="838200"/>
          </a:xfrm>
          <a:prstGeom prst="roundRect">
            <a:avLst>
              <a:gd name="adj" fmla="val 9091"/>
            </a:avLst>
          </a:prstGeom>
          <a:solidFill>
            <a:srgbClr val="EAF1FB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447800" y="333375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功能不是一次成型</a:t>
            </a:r>
            <a:endParaRPr sz="180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495800" y="3352800"/>
            <a:ext cx="561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数据、模型、UI、算法对比是在多次 commit 中逐步补齐的。</a:t>
            </a:r>
            <a:endParaRPr sz="150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1143000" y="4324350"/>
            <a:ext cx="95250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447800" y="453390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项目价值不只在模型</a:t>
            </a:r>
            <a:endParaRPr sz="180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495800" y="4552950"/>
            <a:ext cx="561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完整经历了数据收集、训练、评估、展示和版本管理。</a:t>
            </a:r>
            <a:endParaRPr sz="150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466850" y="5715000"/>
            <a:ext cx="8572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课程项目不只是让模型跑起来，也要让项目真正“交得出去、看得明白”。</a:t>
            </a:r>
            <a:endParaRPr sz="180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572750" y="641985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050" b="1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B2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20955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Nailong / Naiwa Image Classifier</a:t>
            </a:r>
            <a:endParaRPr sz="1125" b="1">
              <a:solidFill>
                <a:srgbClr val="DCE8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876300"/>
            <a:ext cx="7429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不足：清楚知道边界，才方便继续扩展</a:t>
            </a:r>
            <a:endParaRPr sz="255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47800"/>
            <a:ext cx="838200" cy="57150"/>
          </a:xfrm>
          <a:prstGeom prst="rect">
            <a:avLst/>
          </a:prstGeom>
          <a:solidFill>
            <a:srgbClr val="F4C5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1952625"/>
            <a:ext cx="47625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43000" y="2162175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数据量偏小</a:t>
            </a:r>
            <a:endParaRPr sz="1875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43000" y="2543175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测试集只有 41 张，准确率有偶然性。</a:t>
            </a:r>
            <a:endParaRPr sz="1425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257925" y="1952625"/>
            <a:ext cx="47625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524625" y="2162175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类别有限</a:t>
            </a:r>
            <a:endParaRPr sz="1875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524625" y="2543175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只能区分奶龙和奶蛙，不能处理无关图片。</a:t>
            </a:r>
            <a:endParaRPr sz="1425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76300" y="3476625"/>
            <a:ext cx="47625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43000" y="3686175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泛化仍需验证</a:t>
            </a:r>
            <a:endParaRPr sz="1875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43000" y="4067175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背景、水印、压缩质量都会影响判断。</a:t>
            </a:r>
            <a:endParaRPr sz="1425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257925" y="3476625"/>
            <a:ext cx="4762500" cy="1066800"/>
          </a:xfrm>
          <a:prstGeom prst="roundRect">
            <a:avLst>
              <a:gd name="adj" fmla="val 7143"/>
            </a:avLst>
          </a:prstGeom>
          <a:solidFill>
            <a:srgbClr val="FFF0ED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524625" y="3686175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E85D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E85D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功能未完全实现</a:t>
            </a:r>
            <a:endParaRPr sz="1875" b="1">
              <a:solidFill>
                <a:srgbClr val="E85D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524625" y="4067175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云端数据库、历史记录、多人协作还没做完。</a:t>
            </a:r>
            <a:endParaRPr sz="1425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257300" y="5676900"/>
            <a:ext cx="914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时间原因让一些想法没能落地，但这些不足也正好指向后续优化方向。</a:t>
            </a:r>
            <a:endParaRPr sz="180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572750" y="641985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050" b="1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68580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下一步：从本地小工具走向在线识别系统</a:t>
            </a:r>
            <a:endParaRPr sz="3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23900" y="1428750"/>
            <a:ext cx="1143000" cy="66675"/>
          </a:xfrm>
          <a:prstGeom prst="rect">
            <a:avLst/>
          </a:prstGeom>
          <a:solidFill>
            <a:srgbClr val="F4C5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2457450"/>
            <a:ext cx="2247900" cy="1714500"/>
          </a:xfrm>
          <a:prstGeom prst="roundRect">
            <a:avLst>
              <a:gd name="adj" fmla="val 4444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2781300"/>
            <a:ext cx="171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F4C5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4C5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扩数据</a:t>
            </a:r>
            <a:endParaRPr sz="2250" b="1">
              <a:solidFill>
                <a:srgbClr val="F4C5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" y="3352800"/>
            <a:ext cx="17907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0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更多来源、更多画质、更多背景</a:t>
            </a:r>
            <a:endParaRPr sz="1425" b="0">
              <a:solidFill>
                <a:srgbClr val="DCE8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3600450" y="2457450"/>
            <a:ext cx="2247900" cy="1714500"/>
          </a:xfrm>
          <a:prstGeom prst="roundRect">
            <a:avLst>
              <a:gd name="adj" fmla="val 4444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848100" y="2781300"/>
            <a:ext cx="171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F4C5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4C5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查错样本</a:t>
            </a:r>
            <a:endParaRPr sz="2250" b="1">
              <a:solidFill>
                <a:srgbClr val="F4C5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829050" y="3352800"/>
            <a:ext cx="17907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0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整理易混淆图片，针对性补充训练</a:t>
            </a:r>
            <a:endParaRPr sz="1425" b="0">
              <a:solidFill>
                <a:srgbClr val="DCE8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6324600" y="2457450"/>
            <a:ext cx="2247900" cy="1714500"/>
          </a:xfrm>
          <a:prstGeom prst="roundRect">
            <a:avLst>
              <a:gd name="adj" fmla="val 4444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572250" y="2781300"/>
            <a:ext cx="171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F4C5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4C5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 UI</a:t>
            </a:r>
            <a:endParaRPr sz="2250" b="1">
              <a:solidFill>
                <a:srgbClr val="F4C5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553200" y="3352800"/>
            <a:ext cx="17907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0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批量预测、历史记录、人工修正</a:t>
            </a:r>
            <a:endParaRPr sz="1425" b="0">
              <a:solidFill>
                <a:srgbClr val="DCE8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9048750" y="2457450"/>
            <a:ext cx="2247900" cy="1714500"/>
          </a:xfrm>
          <a:prstGeom prst="roundRect">
            <a:avLst>
              <a:gd name="adj" fmla="val 4444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296400" y="2781300"/>
            <a:ext cx="171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F4C5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4C5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上云端</a:t>
            </a:r>
            <a:endParaRPr sz="2250" b="1">
              <a:solidFill>
                <a:srgbClr val="F4C5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277350" y="3352800"/>
            <a:ext cx="17907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0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数据库保存上传、预测和标签记录</a:t>
            </a:r>
            <a:endParaRPr sz="1425" b="0">
              <a:solidFill>
                <a:srgbClr val="DCE8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104900" y="5286375"/>
            <a:ext cx="9906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总结：项目虽然不大，但已经完成从数据准备、模型训练、单图预测、算法对比到报告输出的完整闭环。</a:t>
            </a:r>
            <a:endParaRPr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619500" y="61912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4C5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4C5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谢谢观看</a:t>
            </a:r>
            <a:endParaRPr sz="1650" b="1">
              <a:solidFill>
                <a:srgbClr val="F4C5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mI1N2I3NzE1YzQ4YzNlNDFhMDAxNGY1MWVkZjJiZTUifQ==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1852</Words>
  <Application>WPS 演示</Application>
  <PresentationFormat>Converted Presentation</PresentationFormat>
  <Paragraphs>226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Arial Unicode MS</vt:lpstr>
      <vt:lpstr>Calibri</vt:lpstr>
      <vt:lpstr>Calibri Light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嚯嚯嚯哈哈哈哈嘿嘿嘿</cp:lastModifiedBy>
  <cp:revision>1</cp:revision>
  <dcterms:created xsi:type="dcterms:W3CDTF">2026-06-18T02:40:09Z</dcterms:created>
  <dcterms:modified xsi:type="dcterms:W3CDTF">2026-06-18T02:40:09Z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88AC2AEA7CA3436A889EB7A733B2FD9F_12</vt:lpwstr>
  </property>
  <property fmtid="{D5CDD505-2E9C-101B-9397-08002B2CF9AE}" pid="3" name="KSOProductBuildVer">
    <vt:lpwstr>2052-12.1.0.18276</vt:lpwstr>
  </property>
</Properties>
</file>